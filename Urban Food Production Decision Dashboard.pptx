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57483765" r:id="rId2"/>
    <p:sldMasterId id="2157483882" r:id="rId3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76642" autoAdjust="0"/>
  </p:normalViewPr>
  <p:slideViewPr>
    <p:cSldViewPr snapToGrid="0">
      <p:cViewPr>
        <p:scale>
          <a:sx n="65" d="100"/>
          <a:sy n="65" d="100"/>
        </p:scale>
        <p:origin x="700" y="24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05.02.2026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5407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86924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7732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90365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37196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61770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382315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387452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047408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2661128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317072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86667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341791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139034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378376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103370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468181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215482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909926"/>
      </p:ext>
    </p:extLst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03363"/>
      </p:ext>
    </p:extLst>
  </p:cSld>
  <p:clrMapOvr>
    <a:masterClrMapping/>
  </p:clrMapOvr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tx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7001626"/>
      </p:ext>
    </p:extLst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869936"/>
      </p:ext>
    </p:extLst>
  </p:cSld>
  <p:clrMapOvr>
    <a:masterClrMapping/>
  </p:clrMapOvr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77842"/>
      </p:ext>
    </p:extLst>
  </p:cSld>
  <p:clrMapOvr>
    <a:masterClrMapping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5426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5380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57483766" r:id="rId1"/>
    <p:sldLayoutId id="2157483767" r:id="rId2"/>
    <p:sldLayoutId id="2157483768" r:id="rId3"/>
    <p:sldLayoutId id="2157483769" r:id="rId4"/>
    <p:sldLayoutId id="2157483770" r:id="rId5"/>
    <p:sldLayoutId id="2157483771" r:id="rId6"/>
    <p:sldLayoutId id="2157483772" r:id="rId7"/>
    <p:sldLayoutId id="2157483773" r:id="rId8"/>
    <p:sldLayoutId id="2157483774" r:id="rId9"/>
    <p:sldLayoutId id="2157483775" r:id="rId10"/>
    <p:sldLayoutId id="2157483776" r:id="rId11"/>
    <p:sldLayoutId id="2157483777" r:id="rId12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chemeClr val="bg2">
              <a:lumMod val="60000"/>
              <a:lumOff val="40000"/>
              <a:alpha val="15000"/>
            </a:schemeClr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8247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57483883" r:id="rId1"/>
    <p:sldLayoutId id="2157483884" r:id="rId2"/>
    <p:sldLayoutId id="2157483885" r:id="rId3"/>
    <p:sldLayoutId id="2157483886" r:id="rId4"/>
    <p:sldLayoutId id="2157483887" r:id="rId5"/>
    <p:sldLayoutId id="2157483888" r:id="rId6"/>
    <p:sldLayoutId id="2157483889" r:id="rId7"/>
    <p:sldLayoutId id="2157483890" r:id="rId8"/>
    <p:sldLayoutId id="2157483891" r:id="rId9"/>
    <p:sldLayoutId id="2157483892" r:id="rId10"/>
    <p:sldLayoutId id="2157483893" r:id="rId11"/>
    <p:sldLayoutId id="2157483894" r:id="rId12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60322" y="2159000"/>
            <a:ext cx="1066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 fontScale="77500"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4200" b="1" i="0" u="none" strike="noStrike" dirty="0">
                <a:solidFill>
                  <a:srgbClr val="1F2D5C"/>
                </a:solidFill>
                <a:latin typeface="Montserrat"/>
                <a:ea typeface="Montserrat"/>
                <a:cs typeface="Montserrat"/>
                <a:sym typeface="Montserrat"/>
              </a:rPr>
              <a:t>Decision Dashboard for Urban Food Production</a:t>
            </a:r>
            <a:endParaRPr lang="en-US" sz="1100" dirty="0"/>
          </a:p>
          <a:p>
            <a:pPr>
              <a:lnSpc>
                <a:spcPct val="125000"/>
              </a:lnSpc>
            </a:pPr>
            <a:r>
              <a:rPr lang="en-US" sz="2400" dirty="0">
                <a:solidFill>
                  <a:srgbClr val="8D8D8D"/>
                </a:solidFill>
                <a:latin typeface="Open Sans"/>
                <a:ea typeface="Open Sans"/>
                <a:cs typeface="Open Sans"/>
                <a:sym typeface="Open Sans"/>
              </a:rPr>
              <a:t>CS896 / Capstone Project • Lokesh Das </a:t>
            </a:r>
          </a:p>
          <a:p>
            <a:pPr indent="0" algn="l">
              <a:lnSpc>
                <a:spcPct val="125000"/>
              </a:lnSpc>
            </a:pPr>
            <a:endParaRPr lang="en-US" sz="2400" b="0" i="0" u="none" strike="noStrike" dirty="0">
              <a:solidFill>
                <a:srgbClr val="1F2D5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8382000" y="4311445"/>
            <a:ext cx="3318387" cy="194187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u="sng" dirty="0">
                <a:solidFill>
                  <a:srgbClr val="3A5BC7"/>
                </a:solidFill>
                <a:latin typeface="Open Sans"/>
                <a:ea typeface="Open Sans"/>
                <a:cs typeface="Open Sans"/>
                <a:sym typeface="Open Sans"/>
              </a:rPr>
              <a:t>Team 9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Venkata Subba Rao Are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Mallikarjun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Navya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Boddupalli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1F2D5C"/>
                </a:solidFill>
                <a:latin typeface="Montserrat"/>
                <a:ea typeface="Montserrat"/>
                <a:cs typeface="Montserrat"/>
                <a:sym typeface="Montserrat"/>
              </a:rPr>
              <a:t>Project Background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588000" cy="457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marL="228600" indent="-228600" algn="l">
              <a:lnSpc>
                <a:spcPct val="125000"/>
              </a:lnSpc>
              <a:buClr>
                <a:srgbClr val="1F2D5C"/>
              </a:buClr>
              <a:buChar char="•"/>
              <a:defRPr/>
            </a:pPr>
            <a:r>
              <a:rPr lang="en-US" sz="1800" b="0" i="0" u="none" strike="noStrike">
                <a:solidFill>
                  <a:srgbClr val="1F2D5C"/>
                </a:solidFill>
                <a:latin typeface="Open Sans"/>
                <a:ea typeface="Open Sans"/>
                <a:cs typeface="Open Sans"/>
                <a:sym typeface="Open Sans"/>
              </a:rPr>
              <a:t>Rising food insecurity in urban areas highlights the urgent need for local solutions.</a:t>
            </a:r>
            <a:endParaRPr lang="en-US" sz="1100"/>
          </a:p>
          <a:p>
            <a:pPr marL="228600" indent="-228600" algn="l">
              <a:lnSpc>
                <a:spcPct val="125000"/>
              </a:lnSpc>
              <a:buClr>
                <a:srgbClr val="1F2D5C"/>
              </a:buClr>
              <a:buChar char="•"/>
            </a:pPr>
            <a:r>
              <a:rPr lang="en-US" sz="1800" b="0" i="0" u="none" strike="noStrike">
                <a:solidFill>
                  <a:srgbClr val="1F2D5C"/>
                </a:solidFill>
                <a:latin typeface="Open Sans"/>
                <a:ea typeface="Open Sans"/>
                <a:cs typeface="Open Sans"/>
                <a:sym typeface="Open Sans"/>
              </a:rPr>
              <a:t>Inequitable access to healthy food creates health disparities across different demographics.</a:t>
            </a:r>
          </a:p>
          <a:p>
            <a:pPr marL="228600" indent="-228600" algn="l">
              <a:lnSpc>
                <a:spcPct val="125000"/>
              </a:lnSpc>
              <a:buClr>
                <a:srgbClr val="1F2D5C"/>
              </a:buClr>
              <a:buChar char="•"/>
            </a:pPr>
            <a:r>
              <a:rPr lang="en-US" sz="1800" b="0" i="0" u="none" strike="noStrike">
                <a:solidFill>
                  <a:srgbClr val="1F2D5C"/>
                </a:solidFill>
                <a:latin typeface="Open Sans"/>
                <a:ea typeface="Open Sans"/>
                <a:cs typeface="Open Sans"/>
                <a:sym typeface="Open Sans"/>
              </a:rPr>
              <a:t>Urban agriculture offers a pathway to improve access and optimize underutilized land.</a:t>
            </a:r>
          </a:p>
          <a:p>
            <a:pPr marL="228600" indent="-228600" algn="l">
              <a:lnSpc>
                <a:spcPct val="125000"/>
              </a:lnSpc>
              <a:buClr>
                <a:srgbClr val="1F2D5C"/>
              </a:buClr>
              <a:buChar char="•"/>
            </a:pPr>
            <a:r>
              <a:rPr lang="en-US" sz="1800" b="0" i="0" u="none" strike="noStrike">
                <a:solidFill>
                  <a:srgbClr val="1F2D5C"/>
                </a:solidFill>
                <a:latin typeface="Open Sans"/>
                <a:ea typeface="Open Sans"/>
                <a:cs typeface="Open Sans"/>
                <a:sym typeface="Open Sans"/>
              </a:rPr>
              <a:t>This project provides a data-driven decision-support tool to empower planners in identifying optimal sites.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16675" r="16675"/>
          <a:stretch>
            <a:fillRect/>
          </a:stretch>
        </p:blipFill>
        <p:spPr>
          <a:xfrm>
            <a:off x="6858000" y="1778000"/>
            <a:ext cx="4572000" cy="4572000"/>
          </a:xfrm>
          <a:prstGeom prst="roundRect">
            <a:avLst>
              <a:gd name="adj" fmla="val 3333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F2D5C"/>
                </a:solidFill>
                <a:latin typeface="Montserrat"/>
                <a:ea typeface="Montserrat"/>
                <a:cs typeface="Montserrat"/>
                <a:sym typeface="Montserrat"/>
              </a:rPr>
              <a:t>Project Objective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080000" cy="1905000"/>
          </a:xfrm>
          <a:prstGeom prst="roundRect">
            <a:avLst>
              <a:gd name="adj" fmla="val 5333"/>
            </a:avLst>
          </a:prstGeom>
          <a:solidFill>
            <a:srgbClr val="DEF7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2540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📍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1F2D5C"/>
                </a:solidFill>
                <a:latin typeface="Montserrat"/>
                <a:ea typeface="Montserrat"/>
                <a:cs typeface="Montserrat"/>
                <a:sym typeface="Montserrat"/>
              </a:rPr>
              <a:t>Identify Suitable Land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1F2D5C"/>
                </a:solidFill>
                <a:latin typeface="Open Sans"/>
                <a:ea typeface="Open Sans"/>
                <a:cs typeface="Open Sans"/>
                <a:sym typeface="Open Sans"/>
              </a:rPr>
              <a:t>Pinpoint specific land parcels that are optimal for urban food production.</a:t>
            </a:r>
          </a:p>
        </p:txBody>
      </p:sp>
      <p:sp>
        <p:nvSpPr>
          <p:cNvPr id="4" name="AutoShape 4"/>
          <p:cNvSpPr/>
          <p:nvPr/>
        </p:nvSpPr>
        <p:spPr>
          <a:xfrm>
            <a:off x="6350000" y="1778000"/>
            <a:ext cx="5080000" cy="1905000"/>
          </a:xfrm>
          <a:prstGeom prst="roundRect">
            <a:avLst>
              <a:gd name="adj" fmla="val 5333"/>
            </a:avLst>
          </a:prstGeom>
          <a:solidFill>
            <a:srgbClr val="DEF7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2540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📊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1F2D5C"/>
                </a:solidFill>
                <a:latin typeface="Montserrat"/>
                <a:ea typeface="Montserrat"/>
                <a:cs typeface="Montserrat"/>
                <a:sym typeface="Montserrat"/>
              </a:rPr>
              <a:t>Integrate Multi-Source Data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1F2D5C"/>
                </a:solidFill>
                <a:latin typeface="Open Sans"/>
                <a:ea typeface="Open Sans"/>
                <a:cs typeface="Open Sans"/>
                <a:sym typeface="Open Sans"/>
              </a:rPr>
              <a:t>Combine demographic, socioeconomic, health, and access metrics into one analysis.</a:t>
            </a:r>
          </a:p>
        </p:txBody>
      </p:sp>
      <p:sp>
        <p:nvSpPr>
          <p:cNvPr id="5" name="AutoShape 5"/>
          <p:cNvSpPr/>
          <p:nvPr/>
        </p:nvSpPr>
        <p:spPr>
          <a:xfrm>
            <a:off x="762000" y="4191000"/>
            <a:ext cx="5080000" cy="1905000"/>
          </a:xfrm>
          <a:prstGeom prst="roundRect">
            <a:avLst>
              <a:gd name="adj" fmla="val 5333"/>
            </a:avLst>
          </a:prstGeom>
          <a:solidFill>
            <a:srgbClr val="DEF7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2540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🎯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1F2D5C"/>
                </a:solidFill>
                <a:latin typeface="Montserrat"/>
                <a:ea typeface="Montserrat"/>
                <a:cs typeface="Montserrat"/>
                <a:sym typeface="Montserrat"/>
              </a:rPr>
              <a:t>Score Suitability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1F2D5C"/>
                </a:solidFill>
                <a:latin typeface="Open Sans"/>
                <a:ea typeface="Open Sans"/>
                <a:cs typeface="Open Sans"/>
                <a:sym typeface="Open Sans"/>
              </a:rPr>
              <a:t>Develop and apply a parcel-level suitability score for precise evaluation.</a:t>
            </a:r>
          </a:p>
        </p:txBody>
      </p:sp>
      <p:sp>
        <p:nvSpPr>
          <p:cNvPr id="6" name="AutoShape 6"/>
          <p:cNvSpPr/>
          <p:nvPr/>
        </p:nvSpPr>
        <p:spPr>
          <a:xfrm>
            <a:off x="6350000" y="4191000"/>
            <a:ext cx="5080000" cy="1905000"/>
          </a:xfrm>
          <a:prstGeom prst="roundRect">
            <a:avLst>
              <a:gd name="adj" fmla="val 5333"/>
            </a:avLst>
          </a:prstGeom>
          <a:solidFill>
            <a:srgbClr val="DEF7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2540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🖥️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1F2D5C"/>
                </a:solidFill>
                <a:latin typeface="Montserrat"/>
                <a:ea typeface="Montserrat"/>
                <a:cs typeface="Montserrat"/>
                <a:sym typeface="Montserrat"/>
              </a:rPr>
              <a:t>Develop Interactive Dashboard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1F2D5C"/>
                </a:solidFill>
                <a:latin typeface="Open Sans"/>
                <a:ea typeface="Open Sans"/>
                <a:cs typeface="Open Sans"/>
                <a:sym typeface="Open Sans"/>
              </a:rPr>
              <a:t>Build a GIS-based tool to visualize data and support stakeholder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F2D5C"/>
                </a:solidFill>
                <a:latin typeface="Montserrat"/>
                <a:ea typeface="Montserrat"/>
                <a:cs typeface="Montserrat"/>
                <a:sym typeface="Montserrat"/>
              </a:rPr>
              <a:t>Datasets Used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080000" cy="3810000"/>
          </a:xfrm>
          <a:prstGeom prst="roundRect">
            <a:avLst>
              <a:gd name="adj" fmla="val 2666"/>
            </a:avLst>
          </a:prstGeom>
          <a:solidFill>
            <a:srgbClr val="DEF7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2540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1F2D5C"/>
                </a:solidFill>
                <a:latin typeface="Montserrat"/>
                <a:ea typeface="Montserrat"/>
                <a:cs typeface="Montserrat"/>
                <a:sym typeface="Montserrat"/>
              </a:rPr>
              <a:t>📂 Provided Datasets</a:t>
            </a:r>
            <a:endParaRPr lang="en-US" sz="1100" dirty="0"/>
          </a:p>
          <a:p>
            <a:pPr algn="l">
              <a:lnSpc>
                <a:spcPct val="125000"/>
              </a:lnSpc>
              <a:buClr>
                <a:srgbClr val="1F2D5C"/>
              </a:buClr>
            </a:pPr>
            <a:endParaRPr lang="en-US" sz="1600" b="0" i="0" u="none" strike="noStrike" dirty="0">
              <a:solidFill>
                <a:srgbClr val="1F2D5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03200" indent="-203200" algn="l">
              <a:lnSpc>
                <a:spcPct val="125000"/>
              </a:lnSpc>
              <a:buClr>
                <a:srgbClr val="1F2D5C"/>
              </a:buClr>
              <a:buChar char="•"/>
            </a:pPr>
            <a:r>
              <a:rPr lang="en-US" sz="1600" b="0" i="0" u="none" strike="noStrike" dirty="0">
                <a:solidFill>
                  <a:srgbClr val="1F2D5C"/>
                </a:solidFill>
                <a:latin typeface="Open Sans"/>
                <a:ea typeface="Open Sans"/>
                <a:cs typeface="Open Sans"/>
                <a:sym typeface="Open Sans"/>
              </a:rPr>
              <a:t>Census Tract Data (GIS-friendly)</a:t>
            </a:r>
          </a:p>
          <a:p>
            <a:pPr marL="203200" indent="-203200" algn="l">
              <a:lnSpc>
                <a:spcPct val="125000"/>
              </a:lnSpc>
              <a:buClr>
                <a:srgbClr val="1F2D5C"/>
              </a:buClr>
              <a:buChar char="•"/>
            </a:pPr>
            <a:r>
              <a:rPr lang="en-US" sz="1600" b="0" i="0" u="none" strike="noStrike" dirty="0">
                <a:solidFill>
                  <a:srgbClr val="1F2D5C"/>
                </a:solidFill>
                <a:latin typeface="Open Sans"/>
                <a:ea typeface="Open Sans"/>
                <a:cs typeface="Open Sans"/>
                <a:sym typeface="Open Sans"/>
              </a:rPr>
              <a:t>Local Data for Better Health (tract &amp; place-level)</a:t>
            </a:r>
          </a:p>
          <a:p>
            <a:pPr marL="203200" indent="-203200">
              <a:lnSpc>
                <a:spcPct val="125000"/>
              </a:lnSpc>
              <a:buClr>
                <a:srgbClr val="1F2D5C"/>
              </a:buClr>
              <a:buChar char="•"/>
            </a:pPr>
            <a:r>
              <a:rPr lang="en-US" sz="1600" dirty="0">
                <a:solidFill>
                  <a:srgbClr val="1F2D5C"/>
                </a:solidFill>
                <a:latin typeface="Open Sans"/>
                <a:ea typeface="Open Sans"/>
                <a:cs typeface="Open Sans"/>
                <a:sym typeface="Open Sans"/>
              </a:rPr>
              <a:t>Local Data for Better Health (Place Data)</a:t>
            </a:r>
            <a:endParaRPr lang="en-US" sz="1600" b="0" i="0" u="none" strike="noStrike" dirty="0">
              <a:solidFill>
                <a:srgbClr val="1F2D5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03200" indent="-203200" algn="l">
              <a:lnSpc>
                <a:spcPct val="125000"/>
              </a:lnSpc>
              <a:buClr>
                <a:srgbClr val="1F2D5C"/>
              </a:buClr>
              <a:buChar char="•"/>
            </a:pPr>
            <a:r>
              <a:rPr lang="en-US" sz="1600" b="0" i="0" u="none" strike="noStrike" dirty="0">
                <a:solidFill>
                  <a:srgbClr val="1F2D5C"/>
                </a:solidFill>
                <a:latin typeface="Open Sans"/>
                <a:ea typeface="Open Sans"/>
                <a:cs typeface="Open Sans"/>
                <a:sym typeface="Open Sans"/>
              </a:rPr>
              <a:t>ZCTA Data (GIS-friendly)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F2D5C"/>
                </a:solidFill>
                <a:latin typeface="Montserrat"/>
                <a:ea typeface="Montserrat"/>
                <a:cs typeface="Montserrat"/>
                <a:sym typeface="Montserrat"/>
              </a:rPr>
              <a:t>Key Variables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2286000"/>
          </a:xfrm>
          <a:prstGeom prst="roundRect">
            <a:avLst>
              <a:gd name="adj" fmla="val 4444"/>
            </a:avLst>
          </a:prstGeom>
          <a:solidFill>
            <a:srgbClr val="DEF7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190500" rIns="1905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A5BC7"/>
                </a:solidFill>
                <a:latin typeface="Montserrat"/>
                <a:ea typeface="Montserrat"/>
                <a:cs typeface="Montserrat"/>
                <a:sym typeface="Montserrat"/>
              </a:rPr>
              <a:t>🩺 Health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1F2D5C"/>
              </a:buClr>
              <a:buChar char="•"/>
            </a:pPr>
            <a:r>
              <a:rPr lang="en-US" sz="1400" b="0" i="0" u="none" strike="noStrike">
                <a:solidFill>
                  <a:srgbClr val="1F2D5C"/>
                </a:solidFill>
                <a:latin typeface="Open Sans"/>
                <a:ea typeface="Open Sans"/>
                <a:cs typeface="Open Sans"/>
                <a:sym typeface="Open Sans"/>
              </a:rPr>
              <a:t>Obesity rates</a:t>
            </a:r>
          </a:p>
          <a:p>
            <a:pPr marL="177800" indent="-177800" algn="l">
              <a:lnSpc>
                <a:spcPct val="125000"/>
              </a:lnSpc>
              <a:buClr>
                <a:srgbClr val="1F2D5C"/>
              </a:buClr>
              <a:buChar char="•"/>
            </a:pPr>
            <a:r>
              <a:rPr lang="en-US" sz="1400" b="0" i="0" u="none" strike="noStrike">
                <a:solidFill>
                  <a:srgbClr val="1F2D5C"/>
                </a:solidFill>
                <a:latin typeface="Open Sans"/>
                <a:ea typeface="Open Sans"/>
                <a:cs typeface="Open Sans"/>
                <a:sym typeface="Open Sans"/>
              </a:rPr>
              <a:t>Diabetes prevalence</a:t>
            </a:r>
          </a:p>
          <a:p>
            <a:pPr marL="177800" indent="-177800" algn="l">
              <a:lnSpc>
                <a:spcPct val="125000"/>
              </a:lnSpc>
              <a:buClr>
                <a:srgbClr val="1F2D5C"/>
              </a:buClr>
              <a:buChar char="•"/>
            </a:pPr>
            <a:r>
              <a:rPr lang="en-US" sz="1400" b="0" i="0" u="none" strike="noStrike">
                <a:solidFill>
                  <a:srgbClr val="1F2D5C"/>
                </a:solidFill>
                <a:latin typeface="Open Sans"/>
                <a:ea typeface="Open Sans"/>
                <a:cs typeface="Open Sans"/>
                <a:sym typeface="Open Sans"/>
              </a:rPr>
              <a:t>High blood pressure</a:t>
            </a:r>
          </a:p>
        </p:txBody>
      </p:sp>
      <p:sp>
        <p:nvSpPr>
          <p:cNvPr id="4" name="AutoShape 4"/>
          <p:cNvSpPr/>
          <p:nvPr/>
        </p:nvSpPr>
        <p:spPr>
          <a:xfrm>
            <a:off x="4318000" y="1651000"/>
            <a:ext cx="3302000" cy="2286000"/>
          </a:xfrm>
          <a:prstGeom prst="roundRect">
            <a:avLst>
              <a:gd name="adj" fmla="val 4444"/>
            </a:avLst>
          </a:prstGeom>
          <a:solidFill>
            <a:srgbClr val="DEF7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190500" rIns="1905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A5BC7"/>
                </a:solidFill>
                <a:latin typeface="Montserrat"/>
                <a:ea typeface="Montserrat"/>
                <a:cs typeface="Montserrat"/>
                <a:sym typeface="Montserrat"/>
              </a:rPr>
              <a:t>👥 Demographics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1F2D5C"/>
              </a:buClr>
              <a:buChar char="•"/>
            </a:pPr>
            <a:r>
              <a:rPr lang="en-US" sz="1400" b="0" i="0" u="none" strike="noStrike">
                <a:solidFill>
                  <a:srgbClr val="1F2D5C"/>
                </a:solidFill>
                <a:latin typeface="Open Sans"/>
                <a:ea typeface="Open Sans"/>
                <a:cs typeface="Open Sans"/>
                <a:sym typeface="Open Sans"/>
              </a:rPr>
              <a:t>Age distribution</a:t>
            </a:r>
          </a:p>
          <a:p>
            <a:pPr marL="177800" indent="-177800" algn="l">
              <a:lnSpc>
                <a:spcPct val="125000"/>
              </a:lnSpc>
              <a:buClr>
                <a:srgbClr val="1F2D5C"/>
              </a:buClr>
              <a:buChar char="•"/>
            </a:pPr>
            <a:r>
              <a:rPr lang="en-US" sz="1400" b="0" i="0" u="none" strike="noStrike">
                <a:solidFill>
                  <a:srgbClr val="1F2D5C"/>
                </a:solidFill>
                <a:latin typeface="Open Sans"/>
                <a:ea typeface="Open Sans"/>
                <a:cs typeface="Open Sans"/>
                <a:sym typeface="Open Sans"/>
              </a:rPr>
              <a:t>Race &amp; Ethnicity</a:t>
            </a:r>
          </a:p>
          <a:p>
            <a:pPr marL="177800" indent="-177800" algn="l">
              <a:lnSpc>
                <a:spcPct val="125000"/>
              </a:lnSpc>
              <a:buClr>
                <a:srgbClr val="1F2D5C"/>
              </a:buClr>
              <a:buChar char="•"/>
            </a:pPr>
            <a:r>
              <a:rPr lang="en-US" sz="1400" b="0" i="0" u="none" strike="noStrike">
                <a:solidFill>
                  <a:srgbClr val="1F2D5C"/>
                </a:solidFill>
                <a:latin typeface="Open Sans"/>
                <a:ea typeface="Open Sans"/>
                <a:cs typeface="Open Sans"/>
                <a:sym typeface="Open Sans"/>
              </a:rPr>
              <a:t>Disability status</a:t>
            </a:r>
          </a:p>
        </p:txBody>
      </p:sp>
      <p:sp>
        <p:nvSpPr>
          <p:cNvPr id="5" name="AutoShape 5"/>
          <p:cNvSpPr/>
          <p:nvPr/>
        </p:nvSpPr>
        <p:spPr>
          <a:xfrm>
            <a:off x="762000" y="4191000"/>
            <a:ext cx="3302000" cy="2286000"/>
          </a:xfrm>
          <a:prstGeom prst="roundRect">
            <a:avLst>
              <a:gd name="adj" fmla="val 4444"/>
            </a:avLst>
          </a:prstGeom>
          <a:solidFill>
            <a:srgbClr val="DEF7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190500" rIns="1905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A5BC7"/>
                </a:solidFill>
                <a:latin typeface="Montserrat"/>
                <a:ea typeface="Montserrat"/>
                <a:cs typeface="Montserrat"/>
                <a:sym typeface="Montserrat"/>
              </a:rPr>
              <a:t>💰 Socioeconomic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1F2D5C"/>
              </a:buClr>
              <a:buChar char="•"/>
            </a:pPr>
            <a:r>
              <a:rPr lang="en-US" sz="1400" b="0" i="0" u="none" strike="noStrike">
                <a:solidFill>
                  <a:srgbClr val="1F2D5C"/>
                </a:solidFill>
                <a:latin typeface="Open Sans"/>
                <a:ea typeface="Open Sans"/>
                <a:cs typeface="Open Sans"/>
                <a:sym typeface="Open Sans"/>
              </a:rPr>
              <a:t>Household Income</a:t>
            </a:r>
          </a:p>
          <a:p>
            <a:pPr marL="177800" indent="-177800" algn="l">
              <a:lnSpc>
                <a:spcPct val="125000"/>
              </a:lnSpc>
              <a:buClr>
                <a:srgbClr val="1F2D5C"/>
              </a:buClr>
              <a:buChar char="•"/>
            </a:pPr>
            <a:r>
              <a:rPr lang="en-US" sz="1400" b="0" i="0" u="none" strike="noStrike">
                <a:solidFill>
                  <a:srgbClr val="1F2D5C"/>
                </a:solidFill>
                <a:latin typeface="Open Sans"/>
                <a:ea typeface="Open Sans"/>
                <a:cs typeface="Open Sans"/>
                <a:sym typeface="Open Sans"/>
              </a:rPr>
              <a:t>Poverty levels</a:t>
            </a:r>
          </a:p>
          <a:p>
            <a:pPr marL="177800" indent="-177800" algn="l">
              <a:lnSpc>
                <a:spcPct val="125000"/>
              </a:lnSpc>
              <a:buClr>
                <a:srgbClr val="1F2D5C"/>
              </a:buClr>
              <a:buChar char="•"/>
            </a:pPr>
            <a:r>
              <a:rPr lang="en-US" sz="1400" b="0" i="0" u="none" strike="noStrike">
                <a:solidFill>
                  <a:srgbClr val="1F2D5C"/>
                </a:solidFill>
                <a:latin typeface="Open Sans"/>
                <a:ea typeface="Open Sans"/>
                <a:cs typeface="Open Sans"/>
                <a:sym typeface="Open Sans"/>
              </a:rPr>
              <a:t>SNAP participation</a:t>
            </a:r>
          </a:p>
        </p:txBody>
      </p:sp>
      <p:sp>
        <p:nvSpPr>
          <p:cNvPr id="6" name="AutoShape 6"/>
          <p:cNvSpPr/>
          <p:nvPr/>
        </p:nvSpPr>
        <p:spPr>
          <a:xfrm>
            <a:off x="4318000" y="4191000"/>
            <a:ext cx="3302000" cy="2286000"/>
          </a:xfrm>
          <a:prstGeom prst="roundRect">
            <a:avLst>
              <a:gd name="adj" fmla="val 4444"/>
            </a:avLst>
          </a:prstGeom>
          <a:solidFill>
            <a:srgbClr val="DEF7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190500" rIns="1905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A5BC7"/>
                </a:solidFill>
                <a:latin typeface="Montserrat"/>
                <a:ea typeface="Montserrat"/>
                <a:cs typeface="Montserrat"/>
                <a:sym typeface="Montserrat"/>
              </a:rPr>
              <a:t>🏙️ Built Environment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1F2D5C"/>
              </a:buClr>
              <a:buChar char="•"/>
            </a:pPr>
            <a:r>
              <a:rPr lang="en-US" sz="1400" b="0" i="0" u="none" strike="noStrike">
                <a:solidFill>
                  <a:srgbClr val="1F2D5C"/>
                </a:solidFill>
                <a:latin typeface="Open Sans"/>
                <a:ea typeface="Open Sans"/>
                <a:cs typeface="Open Sans"/>
                <a:sym typeface="Open Sans"/>
              </a:rPr>
              <a:t>Food access points</a:t>
            </a:r>
          </a:p>
          <a:p>
            <a:pPr marL="177800" indent="-177800" algn="l">
              <a:lnSpc>
                <a:spcPct val="125000"/>
              </a:lnSpc>
              <a:buClr>
                <a:srgbClr val="1F2D5C"/>
              </a:buClr>
              <a:buChar char="•"/>
            </a:pPr>
            <a:r>
              <a:rPr lang="en-US" sz="1400" b="0" i="0" u="none" strike="noStrike">
                <a:solidFill>
                  <a:srgbClr val="1F2D5C"/>
                </a:solidFill>
                <a:latin typeface="Open Sans"/>
                <a:ea typeface="Open Sans"/>
                <a:cs typeface="Open Sans"/>
                <a:sym typeface="Open Sans"/>
              </a:rPr>
              <a:t>Public transit access</a:t>
            </a:r>
          </a:p>
          <a:p>
            <a:pPr marL="177800" indent="-177800" algn="l">
              <a:lnSpc>
                <a:spcPct val="125000"/>
              </a:lnSpc>
              <a:buClr>
                <a:srgbClr val="1F2D5C"/>
              </a:buClr>
              <a:buChar char="•"/>
            </a:pPr>
            <a:r>
              <a:rPr lang="en-US" sz="1400" b="0" i="0" u="none" strike="noStrike">
                <a:solidFill>
                  <a:srgbClr val="1F2D5C"/>
                </a:solidFill>
                <a:latin typeface="Open Sans"/>
                <a:ea typeface="Open Sans"/>
                <a:cs typeface="Open Sans"/>
                <a:sym typeface="Open Sans"/>
              </a:rPr>
              <a:t>Vacant land parcels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 l="22368" r="22368"/>
          <a:stretch>
            <a:fillRect/>
          </a:stretch>
        </p:blipFill>
        <p:spPr>
          <a:xfrm>
            <a:off x="8128000" y="1651000"/>
            <a:ext cx="3556000" cy="4826000"/>
          </a:xfrm>
          <a:prstGeom prst="roundRect">
            <a:avLst>
              <a:gd name="adj" fmla="val 4285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5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F2D5C"/>
                </a:solidFill>
                <a:latin typeface="Montserrat"/>
                <a:ea typeface="Montserrat"/>
                <a:cs typeface="Montserrat"/>
                <a:sym typeface="Montserrat"/>
              </a:rPr>
              <a:t>Methodology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l="15258" r="15258"/>
          <a:stretch>
            <a:fillRect/>
          </a:stretch>
        </p:blipFill>
        <p:spPr>
          <a:xfrm>
            <a:off x="6096000" y="1651000"/>
            <a:ext cx="5334000" cy="4826000"/>
          </a:xfrm>
          <a:prstGeom prst="roundRect">
            <a:avLst>
              <a:gd name="adj" fmla="val 2105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4" name="AutoShape 4"/>
          <p:cNvSpPr/>
          <p:nvPr/>
        </p:nvSpPr>
        <p:spPr>
          <a:xfrm>
            <a:off x="762000" y="1651000"/>
            <a:ext cx="4826000" cy="762000"/>
          </a:xfrm>
          <a:prstGeom prst="roundRect">
            <a:avLst>
              <a:gd name="adj" fmla="val 13333"/>
            </a:avLst>
          </a:prstGeom>
          <a:solidFill>
            <a:srgbClr val="DEF7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A5BC7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600" b="1" i="0" u="none" strike="noStrike">
                <a:solidFill>
                  <a:srgbClr val="1F2D5C"/>
                </a:solidFill>
                <a:latin typeface="Open Sans"/>
                <a:ea typeface="Open Sans"/>
                <a:cs typeface="Open Sans"/>
                <a:sym typeface="Open Sans"/>
              </a:rPr>
              <a:t>Data Cleaning &amp; Alignment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1F2D5C"/>
                </a:solidFill>
                <a:latin typeface="Open Sans"/>
                <a:ea typeface="Open Sans"/>
                <a:cs typeface="Open Sans"/>
                <a:sym typeface="Open Sans"/>
              </a:rPr>
              <a:t>Standardize tract &amp; parcel data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667000"/>
            <a:ext cx="4826000" cy="762000"/>
          </a:xfrm>
          <a:prstGeom prst="roundRect">
            <a:avLst>
              <a:gd name="adj" fmla="val 13333"/>
            </a:avLst>
          </a:prstGeom>
          <a:solidFill>
            <a:srgbClr val="DEF7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A5BC7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600" b="1" i="0" u="none" strike="noStrike">
                <a:solidFill>
                  <a:srgbClr val="1F2D5C"/>
                </a:solidFill>
                <a:latin typeface="Open Sans"/>
                <a:ea typeface="Open Sans"/>
                <a:cs typeface="Open Sans"/>
                <a:sym typeface="Open Sans"/>
              </a:rPr>
              <a:t>Normalization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1F2D5C"/>
                </a:solidFill>
                <a:latin typeface="Open Sans"/>
                <a:ea typeface="Open Sans"/>
                <a:cs typeface="Open Sans"/>
                <a:sym typeface="Open Sans"/>
              </a:rPr>
              <a:t>Scale variables for comparison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683000"/>
            <a:ext cx="4826000" cy="762000"/>
          </a:xfrm>
          <a:prstGeom prst="roundRect">
            <a:avLst>
              <a:gd name="adj" fmla="val 13333"/>
            </a:avLst>
          </a:prstGeom>
          <a:solidFill>
            <a:srgbClr val="DEF7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A5BC7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600" b="1" i="0" u="none" strike="noStrike">
                <a:solidFill>
                  <a:srgbClr val="1F2D5C"/>
                </a:solidFill>
                <a:latin typeface="Open Sans"/>
                <a:ea typeface="Open Sans"/>
                <a:cs typeface="Open Sans"/>
                <a:sym typeface="Open Sans"/>
              </a:rPr>
              <a:t>MCDM Framework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1F2D5C"/>
                </a:solidFill>
                <a:latin typeface="Open Sans"/>
                <a:ea typeface="Open Sans"/>
                <a:cs typeface="Open Sans"/>
                <a:sym typeface="Open Sans"/>
              </a:rPr>
              <a:t>Multi-Criteria Decision Making setup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4699000"/>
            <a:ext cx="4826000" cy="762000"/>
          </a:xfrm>
          <a:prstGeom prst="roundRect">
            <a:avLst>
              <a:gd name="adj" fmla="val 13333"/>
            </a:avLst>
          </a:prstGeom>
          <a:solidFill>
            <a:srgbClr val="DEF7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A5BC7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600" b="1" i="0" u="none" strike="noStrike">
                <a:solidFill>
                  <a:srgbClr val="1F2D5C"/>
                </a:solidFill>
                <a:latin typeface="Open Sans"/>
                <a:ea typeface="Open Sans"/>
                <a:cs typeface="Open Sans"/>
                <a:sym typeface="Open Sans"/>
              </a:rPr>
              <a:t>AHP Weight Assignment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1F2D5C"/>
                </a:solidFill>
                <a:latin typeface="Open Sans"/>
                <a:ea typeface="Open Sans"/>
                <a:cs typeface="Open Sans"/>
                <a:sym typeface="Open Sans"/>
              </a:rPr>
              <a:t>Assign importance weights analytically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5715000"/>
            <a:ext cx="4826000" cy="762000"/>
          </a:xfrm>
          <a:prstGeom prst="roundRect">
            <a:avLst>
              <a:gd name="adj" fmla="val 13333"/>
            </a:avLst>
          </a:prstGeom>
          <a:solidFill>
            <a:srgbClr val="3A5BC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600" b="1" i="0" u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Suitability Score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Final calculation per parcel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5228255">
            <a:off x="3048000" y="2533174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8D8D8D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10" name="Connector 10"/>
          <p:cNvCxnSpPr/>
          <p:nvPr/>
        </p:nvCxnSpPr>
        <p:spPr>
          <a:xfrm rot="5228255">
            <a:off x="3048000" y="3549174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8D8D8D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11" name="Connector 11"/>
          <p:cNvCxnSpPr/>
          <p:nvPr/>
        </p:nvCxnSpPr>
        <p:spPr>
          <a:xfrm rot="5228255">
            <a:off x="3048000" y="4565174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8D8D8D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12" name="Connector 12"/>
          <p:cNvCxnSpPr/>
          <p:nvPr/>
        </p:nvCxnSpPr>
        <p:spPr>
          <a:xfrm rot="5228255">
            <a:off x="3048000" y="5581174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8D8D8D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69174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1F2D5C"/>
                </a:solidFill>
                <a:latin typeface="Montserrat"/>
                <a:ea typeface="Montserrat"/>
                <a:cs typeface="Montserrat"/>
                <a:sym typeface="Montserrat"/>
              </a:rPr>
              <a:t>Tools and Technologies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931174"/>
            <a:ext cx="2540000" cy="1524000"/>
          </a:xfrm>
          <a:prstGeom prst="roundRect">
            <a:avLst>
              <a:gd name="adj" fmla="val 6666"/>
            </a:avLst>
          </a:prstGeom>
          <a:solidFill>
            <a:srgbClr val="DEF7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27000" tIns="0" rIns="12700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🗺️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1F2D5C"/>
                </a:solidFill>
                <a:latin typeface="Montserrat"/>
                <a:ea typeface="Montserrat"/>
                <a:cs typeface="Montserrat"/>
                <a:sym typeface="Montserrat"/>
              </a:rPr>
              <a:t>ArcGIS / Online</a:t>
            </a:r>
          </a:p>
        </p:txBody>
      </p:sp>
      <p:sp>
        <p:nvSpPr>
          <p:cNvPr id="4" name="AutoShape 4"/>
          <p:cNvSpPr/>
          <p:nvPr/>
        </p:nvSpPr>
        <p:spPr>
          <a:xfrm>
            <a:off x="3467100" y="931174"/>
            <a:ext cx="2540000" cy="1524000"/>
          </a:xfrm>
          <a:prstGeom prst="roundRect">
            <a:avLst>
              <a:gd name="adj" fmla="val 6666"/>
            </a:avLst>
          </a:prstGeom>
          <a:solidFill>
            <a:srgbClr val="DEF7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27000" tIns="0" rIns="12700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🐍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1F2D5C"/>
                </a:solidFill>
                <a:latin typeface="Montserrat"/>
                <a:ea typeface="Montserrat"/>
                <a:cs typeface="Montserrat"/>
                <a:sym typeface="Montserrat"/>
              </a:rPr>
              <a:t>R / Python</a:t>
            </a:r>
          </a:p>
        </p:txBody>
      </p:sp>
      <p:sp>
        <p:nvSpPr>
          <p:cNvPr id="5" name="AutoShape 5"/>
          <p:cNvSpPr/>
          <p:nvPr/>
        </p:nvSpPr>
        <p:spPr>
          <a:xfrm>
            <a:off x="6096000" y="931174"/>
            <a:ext cx="2540000" cy="1524000"/>
          </a:xfrm>
          <a:prstGeom prst="roundRect">
            <a:avLst>
              <a:gd name="adj" fmla="val 6666"/>
            </a:avLst>
          </a:prstGeom>
          <a:solidFill>
            <a:srgbClr val="DEF7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27000" tIns="0" rIns="12700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🔍</a:t>
            </a:r>
            <a:endParaRPr lang="en-US" sz="1100" dirty="0"/>
          </a:p>
          <a:p>
            <a:pPr indent="0" algn="ctr">
              <a:lnSpc>
                <a:spcPct val="125000"/>
              </a:lnSpc>
            </a:pPr>
            <a:r>
              <a:rPr lang="en-US" sz="1600" b="1" i="0" u="none" strike="noStrike" dirty="0">
                <a:solidFill>
                  <a:srgbClr val="1F2D5C"/>
                </a:solidFill>
                <a:latin typeface="Montserrat"/>
                <a:ea typeface="Montserrat"/>
                <a:cs typeface="Montserrat"/>
                <a:sym typeface="Montserrat"/>
              </a:rPr>
              <a:t>Spatial Analysis</a:t>
            </a:r>
          </a:p>
        </p:txBody>
      </p:sp>
      <p:sp>
        <p:nvSpPr>
          <p:cNvPr id="6" name="AutoShape 6"/>
          <p:cNvSpPr/>
          <p:nvPr/>
        </p:nvSpPr>
        <p:spPr>
          <a:xfrm>
            <a:off x="8763000" y="931174"/>
            <a:ext cx="2540000" cy="1524000"/>
          </a:xfrm>
          <a:prstGeom prst="roundRect">
            <a:avLst>
              <a:gd name="adj" fmla="val 6666"/>
            </a:avLst>
          </a:prstGeom>
          <a:solidFill>
            <a:srgbClr val="DEF7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27000" tIns="0" rIns="12700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💻</a:t>
            </a:r>
            <a:endParaRPr lang="en-US" sz="1100" dirty="0"/>
          </a:p>
          <a:p>
            <a:pPr indent="0" algn="ctr">
              <a:lnSpc>
                <a:spcPct val="125000"/>
              </a:lnSpc>
            </a:pPr>
            <a:r>
              <a:rPr lang="en-US" sz="1600" b="1" i="0" u="none" strike="noStrike" dirty="0">
                <a:solidFill>
                  <a:srgbClr val="1F2D5C"/>
                </a:solidFill>
                <a:latin typeface="Montserrat"/>
                <a:ea typeface="Montserrat"/>
                <a:cs typeface="Montserrat"/>
                <a:sym typeface="Montserrat"/>
              </a:rPr>
              <a:t>Web Dashboard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 l="23" r="23"/>
          <a:stretch>
            <a:fillRect/>
          </a:stretch>
        </p:blipFill>
        <p:spPr>
          <a:xfrm>
            <a:off x="2197100" y="2624347"/>
            <a:ext cx="7620000" cy="3937000"/>
          </a:xfrm>
          <a:prstGeom prst="roundRect">
            <a:avLst>
              <a:gd name="adj" fmla="val 2580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5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F2D5C"/>
                </a:solidFill>
                <a:latin typeface="Montserrat"/>
                <a:ea typeface="Montserrat"/>
                <a:cs typeface="Montserrat"/>
                <a:sym typeface="Montserrat"/>
              </a:rPr>
              <a:t>8-Week Project Plan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1369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3A5BC7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4" name="AutoShape 4"/>
          <p:cNvSpPr/>
          <p:nvPr/>
        </p:nvSpPr>
        <p:spPr>
          <a:xfrm>
            <a:off x="762000" y="1778000"/>
            <a:ext cx="2540000" cy="3568700"/>
          </a:xfrm>
          <a:prstGeom prst="roundRect">
            <a:avLst>
              <a:gd name="adj" fmla="val 4000"/>
            </a:avLst>
          </a:prstGeom>
          <a:solidFill>
            <a:srgbClr val="DEF7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254000" rIns="1905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3A5BC7"/>
                </a:solidFill>
                <a:latin typeface="Montserrat"/>
                <a:ea typeface="Montserrat"/>
                <a:cs typeface="Montserrat"/>
                <a:sym typeface="Montserrat"/>
              </a:rPr>
              <a:t>Weeks 1–2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400" b="1" i="0" u="none" strike="noStrike" dirty="0">
                <a:solidFill>
                  <a:srgbClr val="1F2D5C"/>
                </a:solidFill>
                <a:latin typeface="Open Sans"/>
                <a:ea typeface="Open Sans"/>
                <a:cs typeface="Open Sans"/>
                <a:sym typeface="Open Sans"/>
              </a:rPr>
              <a:t>Understanding &amp; Exploration</a:t>
            </a:r>
          </a:p>
          <a:p>
            <a:pPr marL="165100" indent="-165100" algn="l">
              <a:lnSpc>
                <a:spcPct val="125000"/>
              </a:lnSpc>
              <a:buClr>
                <a:srgbClr val="1F2D5C"/>
              </a:buClr>
              <a:buChar char="•"/>
            </a:pPr>
            <a:r>
              <a:rPr lang="en-US" b="0" i="0" u="none" strike="noStrike" dirty="0">
                <a:solidFill>
                  <a:srgbClr val="1F2D5C"/>
                </a:solidFill>
                <a:latin typeface="Open Sans"/>
                <a:ea typeface="Open Sans"/>
                <a:cs typeface="Open Sans"/>
                <a:sym typeface="Open Sans"/>
              </a:rPr>
              <a:t>Scope definition &amp; requirements</a:t>
            </a:r>
          </a:p>
          <a:p>
            <a:pPr marL="165100" indent="-165100" algn="l">
              <a:lnSpc>
                <a:spcPct val="125000"/>
              </a:lnSpc>
              <a:buClr>
                <a:srgbClr val="1F2D5C"/>
              </a:buClr>
              <a:buChar char="•"/>
            </a:pPr>
            <a:r>
              <a:rPr lang="en-US" b="0" i="0" u="none" strike="noStrike" dirty="0">
                <a:solidFill>
                  <a:srgbClr val="1F2D5C"/>
                </a:solidFill>
                <a:latin typeface="Open Sans"/>
                <a:ea typeface="Open Sans"/>
                <a:cs typeface="Open Sans"/>
                <a:sym typeface="Open Sans"/>
              </a:rPr>
              <a:t>Initial data exploration</a:t>
            </a:r>
          </a:p>
        </p:txBody>
      </p:sp>
      <p:sp>
        <p:nvSpPr>
          <p:cNvPr id="5" name="AutoShape 5"/>
          <p:cNvSpPr/>
          <p:nvPr/>
        </p:nvSpPr>
        <p:spPr>
          <a:xfrm>
            <a:off x="3467100" y="1778000"/>
            <a:ext cx="2540000" cy="3568700"/>
          </a:xfrm>
          <a:prstGeom prst="roundRect">
            <a:avLst>
              <a:gd name="adj" fmla="val 4000"/>
            </a:avLst>
          </a:prstGeom>
          <a:solidFill>
            <a:srgbClr val="DEF7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254000" rIns="1905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3A5BC7"/>
                </a:solidFill>
                <a:latin typeface="Montserrat"/>
                <a:ea typeface="Montserrat"/>
                <a:cs typeface="Montserrat"/>
                <a:sym typeface="Montserrat"/>
              </a:rPr>
              <a:t>Weeks 3–4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400" b="1" i="0" u="none" strike="noStrike" dirty="0">
                <a:solidFill>
                  <a:srgbClr val="1F2D5C"/>
                </a:solidFill>
                <a:latin typeface="Open Sans"/>
                <a:ea typeface="Open Sans"/>
                <a:cs typeface="Open Sans"/>
                <a:sym typeface="Open Sans"/>
              </a:rPr>
              <a:t>Data Prep</a:t>
            </a:r>
          </a:p>
          <a:p>
            <a:pPr marL="165100" indent="-165100" algn="l">
              <a:lnSpc>
                <a:spcPct val="125000"/>
              </a:lnSpc>
              <a:buClr>
                <a:srgbClr val="1F2D5C"/>
              </a:buClr>
              <a:buChar char="•"/>
            </a:pPr>
            <a:r>
              <a:rPr lang="en-US" b="0" i="0" u="none" strike="noStrike" dirty="0">
                <a:solidFill>
                  <a:srgbClr val="1F2D5C"/>
                </a:solidFill>
                <a:latin typeface="Open Sans"/>
                <a:ea typeface="Open Sans"/>
                <a:cs typeface="Open Sans"/>
                <a:sym typeface="Open Sans"/>
              </a:rPr>
              <a:t>Collection &amp; preprocessing</a:t>
            </a:r>
          </a:p>
          <a:p>
            <a:pPr marL="165100" indent="-165100" algn="l">
              <a:lnSpc>
                <a:spcPct val="125000"/>
              </a:lnSpc>
              <a:buClr>
                <a:srgbClr val="1F2D5C"/>
              </a:buClr>
              <a:buChar char="•"/>
            </a:pPr>
            <a:r>
              <a:rPr lang="en-US" b="0" i="0" u="none" strike="noStrike" dirty="0">
                <a:solidFill>
                  <a:srgbClr val="1F2D5C"/>
                </a:solidFill>
                <a:latin typeface="Open Sans"/>
                <a:ea typeface="Open Sans"/>
                <a:cs typeface="Open Sans"/>
                <a:sym typeface="Open Sans"/>
              </a:rPr>
              <a:t>Cleaning &amp; integration</a:t>
            </a:r>
          </a:p>
        </p:txBody>
      </p:sp>
      <p:sp>
        <p:nvSpPr>
          <p:cNvPr id="6" name="AutoShape 6"/>
          <p:cNvSpPr/>
          <p:nvPr/>
        </p:nvSpPr>
        <p:spPr>
          <a:xfrm>
            <a:off x="6172200" y="1778000"/>
            <a:ext cx="2540000" cy="3568700"/>
          </a:xfrm>
          <a:prstGeom prst="roundRect">
            <a:avLst>
              <a:gd name="adj" fmla="val 4000"/>
            </a:avLst>
          </a:prstGeom>
          <a:solidFill>
            <a:srgbClr val="DEF7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254000" rIns="1905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3A5BC7"/>
                </a:solidFill>
                <a:latin typeface="Montserrat"/>
                <a:ea typeface="Montserrat"/>
                <a:cs typeface="Montserrat"/>
                <a:sym typeface="Montserrat"/>
              </a:rPr>
              <a:t>Weeks 5–6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400" b="1" i="0" u="none" strike="noStrike" dirty="0">
                <a:solidFill>
                  <a:srgbClr val="1F2D5C"/>
                </a:solidFill>
                <a:latin typeface="Open Sans"/>
                <a:ea typeface="Open Sans"/>
                <a:cs typeface="Open Sans"/>
                <a:sym typeface="Open Sans"/>
              </a:rPr>
              <a:t>Analysis</a:t>
            </a:r>
          </a:p>
          <a:p>
            <a:pPr marL="165100" indent="-165100" algn="l">
              <a:lnSpc>
                <a:spcPct val="125000"/>
              </a:lnSpc>
              <a:buClr>
                <a:srgbClr val="1F2D5C"/>
              </a:buClr>
              <a:buChar char="•"/>
            </a:pPr>
            <a:r>
              <a:rPr lang="en-US" b="0" i="0" u="none" strike="noStrike" dirty="0">
                <a:solidFill>
                  <a:srgbClr val="1F2D5C"/>
                </a:solidFill>
                <a:latin typeface="Open Sans"/>
                <a:ea typeface="Open Sans"/>
                <a:cs typeface="Open Sans"/>
                <a:sym typeface="Open Sans"/>
              </a:rPr>
              <a:t>Exploratory spatial analysis</a:t>
            </a:r>
          </a:p>
          <a:p>
            <a:pPr marL="165100" indent="-165100" algn="l">
              <a:lnSpc>
                <a:spcPct val="125000"/>
              </a:lnSpc>
              <a:buClr>
                <a:srgbClr val="1F2D5C"/>
              </a:buClr>
              <a:buChar char="•"/>
            </a:pPr>
            <a:r>
              <a:rPr lang="en-US" b="0" i="0" u="none" strike="noStrike" dirty="0">
                <a:solidFill>
                  <a:srgbClr val="1F2D5C"/>
                </a:solidFill>
                <a:latin typeface="Open Sans"/>
                <a:ea typeface="Open Sans"/>
                <a:cs typeface="Open Sans"/>
                <a:sym typeface="Open Sans"/>
              </a:rPr>
              <a:t>MCDM &amp; AHP weighting</a:t>
            </a:r>
          </a:p>
          <a:p>
            <a:pPr marL="165100" indent="-165100" algn="l">
              <a:lnSpc>
                <a:spcPct val="125000"/>
              </a:lnSpc>
              <a:buClr>
                <a:srgbClr val="1F2D5C"/>
              </a:buClr>
              <a:buChar char="•"/>
            </a:pPr>
            <a:r>
              <a:rPr lang="en-US" b="0" i="0" u="none" strike="noStrike" dirty="0">
                <a:solidFill>
                  <a:srgbClr val="1F2D5C"/>
                </a:solidFill>
                <a:latin typeface="Open Sans"/>
                <a:ea typeface="Open Sans"/>
                <a:cs typeface="Open Sans"/>
                <a:sym typeface="Open Sans"/>
              </a:rPr>
              <a:t>Score computation</a:t>
            </a:r>
          </a:p>
        </p:txBody>
      </p:sp>
      <p:sp>
        <p:nvSpPr>
          <p:cNvPr id="7" name="AutoShape 7"/>
          <p:cNvSpPr/>
          <p:nvPr/>
        </p:nvSpPr>
        <p:spPr>
          <a:xfrm>
            <a:off x="8890000" y="1778000"/>
            <a:ext cx="2540000" cy="3568700"/>
          </a:xfrm>
          <a:prstGeom prst="roundRect">
            <a:avLst>
              <a:gd name="adj" fmla="val 4000"/>
            </a:avLst>
          </a:prstGeom>
          <a:solidFill>
            <a:srgbClr val="DEF7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254000" rIns="1905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3A5BC7"/>
                </a:solidFill>
                <a:latin typeface="Montserrat"/>
                <a:ea typeface="Montserrat"/>
                <a:cs typeface="Montserrat"/>
                <a:sym typeface="Montserrat"/>
              </a:rPr>
              <a:t>Weeks 7–8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400" b="1" i="0" u="none" strike="noStrike" dirty="0">
                <a:solidFill>
                  <a:srgbClr val="1F2D5C"/>
                </a:solidFill>
                <a:latin typeface="Open Sans"/>
                <a:ea typeface="Open Sans"/>
                <a:cs typeface="Open Sans"/>
                <a:sym typeface="Open Sans"/>
              </a:rPr>
              <a:t>Finalization</a:t>
            </a:r>
          </a:p>
          <a:p>
            <a:pPr marL="165100" indent="-165100" algn="l">
              <a:lnSpc>
                <a:spcPct val="125000"/>
              </a:lnSpc>
              <a:buClr>
                <a:srgbClr val="1F2D5C"/>
              </a:buClr>
              <a:buChar char="•"/>
            </a:pPr>
            <a:r>
              <a:rPr lang="en-US" b="0" i="0" u="none" strike="noStrike" dirty="0">
                <a:solidFill>
                  <a:srgbClr val="1F2D5C"/>
                </a:solidFill>
                <a:latin typeface="Open Sans"/>
                <a:ea typeface="Open Sans"/>
                <a:cs typeface="Open Sans"/>
                <a:sym typeface="Open Sans"/>
              </a:rPr>
              <a:t>Dashboard development</a:t>
            </a:r>
          </a:p>
          <a:p>
            <a:pPr marL="165100" indent="-165100" algn="l">
              <a:lnSpc>
                <a:spcPct val="125000"/>
              </a:lnSpc>
              <a:buClr>
                <a:srgbClr val="1F2D5C"/>
              </a:buClr>
              <a:buChar char="•"/>
            </a:pPr>
            <a:r>
              <a:rPr lang="en-US" b="0" i="0" u="none" strike="noStrike" dirty="0">
                <a:solidFill>
                  <a:srgbClr val="1F2D5C"/>
                </a:solidFill>
                <a:latin typeface="Open Sans"/>
                <a:ea typeface="Open Sans"/>
                <a:cs typeface="Open Sans"/>
                <a:sym typeface="Open Sans"/>
              </a:rPr>
              <a:t>Testing &amp; refinement</a:t>
            </a:r>
          </a:p>
          <a:p>
            <a:pPr marL="165100" indent="-165100" algn="l">
              <a:lnSpc>
                <a:spcPct val="125000"/>
              </a:lnSpc>
              <a:buClr>
                <a:srgbClr val="1F2D5C"/>
              </a:buClr>
              <a:buChar char="•"/>
            </a:pPr>
            <a:r>
              <a:rPr lang="en-US" b="0" i="0" u="none" strike="noStrike" dirty="0">
                <a:solidFill>
                  <a:srgbClr val="1F2D5C"/>
                </a:solidFill>
                <a:latin typeface="Open Sans"/>
                <a:ea typeface="Open Sans"/>
                <a:cs typeface="Open Sans"/>
                <a:sym typeface="Open Sans"/>
              </a:rPr>
              <a:t>Final presentation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259" b="-925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F2D5C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rm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270000" y="1016000"/>
            <a:ext cx="965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Expected Outcomes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905000" y="2540000"/>
            <a:ext cx="8382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marL="304800" indent="-304800">
              <a:lnSpc>
                <a:spcPct val="125000"/>
              </a:lnSpc>
              <a:buClr>
                <a:srgbClr val="FFFFFF"/>
              </a:buClr>
              <a:buChar char="•"/>
              <a:defRPr/>
            </a:pPr>
            <a:r>
              <a:rPr lang="en-US" sz="2400" b="0" i="0" u="none" strike="noStrik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Identification of high-suitability land parcels</a:t>
            </a:r>
            <a:endParaRPr lang="en-US" sz="1100" dirty="0"/>
          </a:p>
          <a:p>
            <a:pPr marL="304800" indent="-304800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sz="2400" b="0" i="0" u="none" strike="noStrik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Interactive GIS decision dashboard</a:t>
            </a:r>
          </a:p>
          <a:p>
            <a:pPr marL="304800" indent="-304800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sz="2400" b="0" i="0" u="none" strike="noStrik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Insights into food access and health inequities</a:t>
            </a:r>
          </a:p>
          <a:p>
            <a:pPr marL="304800" indent="-304800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sz="2400" b="0" i="0" u="none" strike="noStrik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Practical tool for planners and stakeholders</a:t>
            </a:r>
          </a:p>
        </p:txBody>
      </p:sp>
      <p:sp>
        <p:nvSpPr>
          <p:cNvPr id="5" name="AutoShape 5"/>
          <p:cNvSpPr/>
          <p:nvPr/>
        </p:nvSpPr>
        <p:spPr>
          <a:xfrm>
            <a:off x="1270000" y="57150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1" u="none" strike="noStrike">
                <a:solidFill>
                  <a:srgbClr val="DEF7F9"/>
                </a:solidFill>
                <a:latin typeface="Open Sans"/>
                <a:ea typeface="Open Sans"/>
                <a:cs typeface="Open Sans"/>
                <a:sym typeface="Open Sans"/>
              </a:rPr>
              <a:t>“Enabling data-informed, equitable urban food strategies.”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5F0F68-4334-E3BD-08D0-D439698FA28A}"/>
              </a:ext>
            </a:extLst>
          </p:cNvPr>
          <p:cNvSpPr txBox="1"/>
          <p:nvPr/>
        </p:nvSpPr>
        <p:spPr>
          <a:xfrm>
            <a:off x="4326194" y="2536722"/>
            <a:ext cx="384752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Thank You 😊</a:t>
            </a:r>
          </a:p>
        </p:txBody>
      </p:sp>
    </p:spTree>
    <p:extLst>
      <p:ext uri="{BB962C8B-B14F-4D97-AF65-F5344CB8AC3E}">
        <p14:creationId xmlns:p14="http://schemas.microsoft.com/office/powerpoint/2010/main" val="985108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3.xml><?xml version="1.0" encoding="utf-8"?>
<a:theme xmlns:a="http://schemas.openxmlformats.org/drawingml/2006/main" name="1_Parcel">
  <a:themeElements>
    <a:clrScheme name="Parcel">
      <a:dk1>
        <a:srgbClr val="000000"/>
      </a:dk1>
      <a:lt1>
        <a:srgbClr val="FFFFFF"/>
      </a:lt1>
      <a:dk2>
        <a:srgbClr val="635D4D"/>
      </a:dk2>
      <a:lt2>
        <a:srgbClr val="D8D6BA"/>
      </a:lt2>
      <a:accent1>
        <a:srgbClr val="9CBEBD"/>
      </a:accent1>
      <a:accent2>
        <a:srgbClr val="D2CB6C"/>
      </a:accent2>
      <a:accent3>
        <a:srgbClr val="9D9A93"/>
      </a:accent3>
      <a:accent4>
        <a:srgbClr val="C89F5D"/>
      </a:accent4>
      <a:accent5>
        <a:srgbClr val="A9A57C"/>
      </a:accent5>
      <a:accent6>
        <a:srgbClr val="95A39D"/>
      </a:accent6>
      <a:hlink>
        <a:srgbClr val="D25814"/>
      </a:hlink>
      <a:folHlink>
        <a:srgbClr val="849A0A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0BDC4BB7-8AF9-46FD-8C32-AB93AC9C4100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381</Words>
  <Application>Microsoft Office PowerPoint</Application>
  <PresentationFormat>Widescreen</PresentationFormat>
  <Paragraphs>107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Gill Sans MT</vt:lpstr>
      <vt:lpstr>Montserrat</vt:lpstr>
      <vt:lpstr>Noto Sans SC</vt:lpstr>
      <vt:lpstr>Open Sans</vt:lpstr>
      <vt:lpstr>Office 主题​​</vt:lpstr>
      <vt:lpstr>Parcel</vt:lpstr>
      <vt:lpstr>1_Parcel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Subbu Are</cp:lastModifiedBy>
  <cp:revision>3</cp:revision>
  <dcterms:modified xsi:type="dcterms:W3CDTF">2026-02-05T07:43:52Z</dcterms:modified>
</cp:coreProperties>
</file>